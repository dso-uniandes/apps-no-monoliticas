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14315B"/>
                </a:solidFill>
              </a:defRPr>
            </a:pPr>
            <a:r>
              <a:t>Entrega 3: Diseño de Experimentación</a:t>
            </a:r>
          </a:p>
          <a:p>
            <a:pPr algn="ctr">
              <a:defRPr sz="2000">
                <a:solidFill>
                  <a:srgbClr val="2F9EDB"/>
                </a:solidFill>
              </a:defRPr>
            </a:pPr>
            <a:r>
              <a:t>Hogar de los Alpes · Arquitectura DDD, microservicios y eventos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315B"/>
                </a:solidFill>
              </a:defRPr>
            </a:pPr>
            <a:r>
              <a:t>Objetivo y continuidad arquitectónica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1064240" cy="36576"/>
          </a:xfrm>
          <a:prstGeom prst="rect">
            <a:avLst/>
          </a:prstGeom>
          <a:solidFill>
            <a:srgbClr val="2F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82D37"/>
                </a:solidFill>
              </a:defRPr>
            </a:pPr>
            <a:r>
              <a:t>Validar mediante experimentación los tres atributos definidos en la Entrega 2: Escalabilidad, Modificabilidad/Configurabilidad y Desplegabilidad/Autonomía.</a:t>
            </a:r>
          </a:p>
          <a:p>
            <a:pPr>
              <a:spcAft>
                <a:spcPts val="800"/>
              </a:spcAft>
              <a:defRPr sz="1700">
                <a:solidFill>
                  <a:srgbClr val="282D37"/>
                </a:solidFill>
              </a:defRPr>
            </a:pPr>
            <a:r>
              <a:t>Se conservan los bounded contexts, Published Language y eventos WorkCreated/WorkChanged/WorkCompleted definidos previamente.</a:t>
            </a:r>
          </a:p>
          <a:p>
            <a:pPr>
              <a:spcAft>
                <a:spcPts val="800"/>
              </a:spcAft>
              <a:defRPr sz="1700">
                <a:solidFill>
                  <a:srgbClr val="282D37"/>
                </a:solidFill>
              </a:defRPr>
            </a:pPr>
            <a:r>
              <a:t>La POC implementa Work Orchestration con dos módulos internos (Work y Assignment), DDD, arquitectura hexagonal, CQS, PostgreSQL y RabbitMQ.</a:t>
            </a:r>
          </a:p>
          <a:p>
            <a:pPr>
              <a:spcAft>
                <a:spcPts val="800"/>
              </a:spcAft>
              <a:defRPr sz="1700">
                <a:solidFill>
                  <a:srgbClr val="282D37"/>
                </a:solidFill>
              </a:defRPr>
            </a:pPr>
            <a:r>
              <a:t>Las metas numéricas de esta entrega son objetivos de diseño para experimentación; el caso sí establece millones de requests diarios en integraciones, miles de trabajos diarios y más de 30 partners.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315B"/>
                </a:solidFill>
              </a:defRPr>
            </a:pPr>
            <a:r>
              <a:t>Escalabilidad — Escenario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82D37"/>
                </a:solidFill>
              </a:defRPr>
            </a:pPr>
            <a:r>
              <a:t>Pico de creación de trabajos B2B2C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36576"/>
          </a:xfrm>
          <a:prstGeom prst="rect">
            <a:avLst/>
          </a:prstGeom>
          <a:solidFill>
            <a:srgbClr val="2F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81328"/>
            <a:ext cx="1874519" cy="502920"/>
          </a:xfrm>
          <a:prstGeom prst="roundRect">
            <a:avLst/>
          </a:prstGeom>
          <a:solidFill>
            <a:srgbClr val="F4F7FA"/>
          </a:solidFill>
          <a:ln>
            <a:solidFill>
              <a:srgbClr val="2F9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14315B"/>
                </a:solidFill>
              </a:defRPr>
            </a:pPr>
            <a:r>
              <a:t>Fuente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06040" y="1499616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82D37"/>
                </a:solidFill>
              </a:defRPr>
            </a:pPr>
            <a:r>
              <a:t>Partners B2B2C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048256"/>
            <a:ext cx="1874519" cy="502920"/>
          </a:xfrm>
          <a:prstGeom prst="roundRect">
            <a:avLst/>
          </a:prstGeom>
          <a:solidFill>
            <a:srgbClr val="F4F7FA"/>
          </a:solidFill>
          <a:ln>
            <a:solidFill>
              <a:srgbClr val="2F9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14315B"/>
                </a:solidFill>
              </a:defRPr>
            </a:pPr>
            <a:r>
              <a:t>Estímulo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040" y="2066544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82D37"/>
                </a:solidFill>
              </a:defRPr>
            </a:pPr>
            <a:r>
              <a:t>Ráfaga de creación de trabajos por integraciones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615184"/>
            <a:ext cx="1874519" cy="502920"/>
          </a:xfrm>
          <a:prstGeom prst="roundRect">
            <a:avLst/>
          </a:prstGeom>
          <a:solidFill>
            <a:srgbClr val="F4F7FA"/>
          </a:solidFill>
          <a:ln>
            <a:solidFill>
              <a:srgbClr val="2F9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14315B"/>
                </a:solidFill>
              </a:defRPr>
            </a:pPr>
            <a:r>
              <a:t>Artefacto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2633472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82D37"/>
                </a:solidFill>
              </a:defRPr>
            </a:pPr>
            <a:r>
              <a:t>Partner Integration + Work Orchestration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182112"/>
            <a:ext cx="1874519" cy="502920"/>
          </a:xfrm>
          <a:prstGeom prst="roundRect">
            <a:avLst/>
          </a:prstGeom>
          <a:solidFill>
            <a:srgbClr val="F4F7FA"/>
          </a:solidFill>
          <a:ln>
            <a:solidFill>
              <a:srgbClr val="2F9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14315B"/>
                </a:solidFill>
              </a:defRPr>
            </a:pPr>
            <a:r>
              <a:t>Ambiente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3200400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82D37"/>
                </a:solidFill>
              </a:defRPr>
            </a:pPr>
            <a:r>
              <a:t>Operación pico regional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749040"/>
            <a:ext cx="1874519" cy="502920"/>
          </a:xfrm>
          <a:prstGeom prst="roundRect">
            <a:avLst/>
          </a:prstGeom>
          <a:solidFill>
            <a:srgbClr val="F4F7FA"/>
          </a:solidFill>
          <a:ln>
            <a:solidFill>
              <a:srgbClr val="2F9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14315B"/>
                </a:solidFill>
              </a:defRPr>
            </a:pPr>
            <a:r>
              <a:t>Respuesta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3767328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82D37"/>
                </a:solidFill>
              </a:defRPr>
            </a:pPr>
            <a:r>
              <a:t>Escalar instancias de ingreso/orquestación sin escalar toda HDA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4315968"/>
            <a:ext cx="1874519" cy="502920"/>
          </a:xfrm>
          <a:prstGeom prst="roundRect">
            <a:avLst/>
          </a:prstGeom>
          <a:solidFill>
            <a:srgbClr val="F4F7FA"/>
          </a:solidFill>
          <a:ln>
            <a:solidFill>
              <a:srgbClr val="2F9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14315B"/>
                </a:solidFill>
              </a:defRPr>
            </a:pPr>
            <a:r>
              <a:t>Medida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4334256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82D37"/>
                </a:solidFill>
              </a:defRPr>
            </a:pPr>
            <a:r>
              <a:t>500 req/s por 5 min; p95 &lt; 1 s; errores &lt; 1%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965192"/>
            <a:ext cx="1097280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F292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  <a:defRPr sz="1050">
                <a:solidFill>
                  <a:srgbClr val="282D37"/>
                </a:solidFill>
              </a:defRPr>
            </a:pPr>
            <a:r>
              <a:t>Decisión: Escalado horizontal + servicios stateless + broker</a:t>
            </a:r>
          </a:p>
          <a:p>
            <a:pPr>
              <a:spcAft>
                <a:spcPts val="200"/>
              </a:spcAft>
              <a:defRPr sz="1050">
                <a:solidFill>
                  <a:srgbClr val="282D37"/>
                </a:solidFill>
              </a:defRPr>
            </a:pPr>
            <a:r>
              <a:t>Sensibilidad: Número de réplicas, pool de conexiones y capacidad del broker</a:t>
            </a:r>
          </a:p>
          <a:p>
            <a:pPr>
              <a:spcAft>
                <a:spcPts val="200"/>
              </a:spcAft>
              <a:defRPr sz="1050">
                <a:solidFill>
                  <a:srgbClr val="282D37"/>
                </a:solidFill>
              </a:defRPr>
            </a:pPr>
            <a:r>
              <a:t>Tradeoff: Más réplicas aumentan costo y complejidad operativa</a:t>
            </a:r>
          </a:p>
          <a:p>
            <a:pPr>
              <a:spcAft>
                <a:spcPts val="200"/>
              </a:spcAft>
              <a:defRPr sz="1050">
                <a:solidFill>
                  <a:srgbClr val="282D37"/>
                </a:solidFill>
              </a:defRPr>
            </a:pPr>
            <a:r>
              <a:t>Riesgo: Saturar PostgreSQL o conexiones aunque escale la API</a:t>
            </a:r>
          </a:p>
          <a:p>
            <a:pPr>
              <a:spcAft>
                <a:spcPts val="200"/>
              </a:spcAft>
              <a:defRPr sz="1050">
                <a:solidFill>
                  <a:srgbClr val="282D37"/>
                </a:solidFill>
              </a:defRPr>
            </a:pPr>
            <a:r>
              <a:t>Rationale: La carga supera ampliamente el promedio de millones de requests/día y prueba independencia de escala.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315B"/>
                </a:solidFill>
              </a:defRPr>
            </a:pPr>
            <a:r>
              <a:t>Escalabilidad — Escenario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82D37"/>
                </a:solidFill>
              </a:defRPr>
            </a:pPr>
            <a:r>
              <a:t>Pico de Provider Matching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36576"/>
          </a:xfrm>
          <a:prstGeom prst="rect">
            <a:avLst/>
          </a:prstGeom>
          <a:solidFill>
            <a:srgbClr val="2F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81328"/>
            <a:ext cx="1874519" cy="502920"/>
          </a:xfrm>
          <a:prstGeom prst="roundRect">
            <a:avLst/>
          </a:prstGeom>
          <a:solidFill>
            <a:srgbClr val="F4F7FA"/>
          </a:solidFill>
          <a:ln>
            <a:solidFill>
              <a:srgbClr val="2F9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14315B"/>
                </a:solidFill>
              </a:defRPr>
            </a:pPr>
            <a:r>
              <a:t>Fuente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06040" y="1499616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82D37"/>
                </a:solidFill>
              </a:defRPr>
            </a:pPr>
            <a:r>
              <a:t>Work Orchestration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048256"/>
            <a:ext cx="1874519" cy="502920"/>
          </a:xfrm>
          <a:prstGeom prst="roundRect">
            <a:avLst/>
          </a:prstGeom>
          <a:solidFill>
            <a:srgbClr val="F4F7FA"/>
          </a:solidFill>
          <a:ln>
            <a:solidFill>
              <a:srgbClr val="2F9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14315B"/>
                </a:solidFill>
              </a:defRPr>
            </a:pPr>
            <a:r>
              <a:t>Estímulo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040" y="2066544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82D37"/>
                </a:solidFill>
              </a:defRPr>
            </a:pPr>
            <a:r>
              <a:t>Incremento súbito de trabajos que requieren matching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615184"/>
            <a:ext cx="1874519" cy="502920"/>
          </a:xfrm>
          <a:prstGeom prst="roundRect">
            <a:avLst/>
          </a:prstGeom>
          <a:solidFill>
            <a:srgbClr val="F4F7FA"/>
          </a:solidFill>
          <a:ln>
            <a:solidFill>
              <a:srgbClr val="2F9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14315B"/>
                </a:solidFill>
              </a:defRPr>
            </a:pPr>
            <a:r>
              <a:t>Artefacto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2633472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82D37"/>
                </a:solidFill>
              </a:defRPr>
            </a:pPr>
            <a:r>
              <a:t>Provider Matching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182112"/>
            <a:ext cx="1874519" cy="502920"/>
          </a:xfrm>
          <a:prstGeom prst="roundRect">
            <a:avLst/>
          </a:prstGeom>
          <a:solidFill>
            <a:srgbClr val="F4F7FA"/>
          </a:solidFill>
          <a:ln>
            <a:solidFill>
              <a:srgbClr val="2F9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14315B"/>
                </a:solidFill>
              </a:defRPr>
            </a:pPr>
            <a:r>
              <a:t>Ambiente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3200400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82D37"/>
                </a:solidFill>
              </a:defRPr>
            </a:pPr>
            <a:r>
              <a:t>Pico de demanda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749040"/>
            <a:ext cx="1874519" cy="502920"/>
          </a:xfrm>
          <a:prstGeom prst="roundRect">
            <a:avLst/>
          </a:prstGeom>
          <a:solidFill>
            <a:srgbClr val="F4F7FA"/>
          </a:solidFill>
          <a:ln>
            <a:solidFill>
              <a:srgbClr val="2F9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14315B"/>
                </a:solidFill>
              </a:defRPr>
            </a:pPr>
            <a:r>
              <a:t>Respuesta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3767328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82D37"/>
                </a:solidFill>
              </a:defRPr>
            </a:pPr>
            <a:r>
              <a:t>Procesar matching de forma independiente y mantener backlog controlado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4315968"/>
            <a:ext cx="1874519" cy="502920"/>
          </a:xfrm>
          <a:prstGeom prst="roundRect">
            <a:avLst/>
          </a:prstGeom>
          <a:solidFill>
            <a:srgbClr val="F4F7FA"/>
          </a:solidFill>
          <a:ln>
            <a:solidFill>
              <a:srgbClr val="2F9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14315B"/>
                </a:solidFill>
              </a:defRPr>
            </a:pPr>
            <a:r>
              <a:t>Medida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4334256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82D37"/>
                </a:solidFill>
              </a:defRPr>
            </a:pPr>
            <a:r>
              <a:t>10.000 trabajos en cola; 95% procesados &lt; 60 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965192"/>
            <a:ext cx="1097280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F292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  <a:defRPr sz="1050">
                <a:solidFill>
                  <a:srgbClr val="282D37"/>
                </a:solidFill>
              </a:defRPr>
            </a:pPr>
            <a:r>
              <a:t>Decisión: Consumidor escalable por particiones/colas</a:t>
            </a:r>
          </a:p>
          <a:p>
            <a:pPr>
              <a:spcAft>
                <a:spcPts val="200"/>
              </a:spcAft>
              <a:defRPr sz="1050">
                <a:solidFill>
                  <a:srgbClr val="282D37"/>
                </a:solidFill>
              </a:defRPr>
            </a:pPr>
            <a:r>
              <a:t>Sensibilidad: Concurrencia de consumidores y distribución de claves</a:t>
            </a:r>
          </a:p>
          <a:p>
            <a:pPr>
              <a:spcAft>
                <a:spcPts val="200"/>
              </a:spcAft>
              <a:defRPr sz="1050">
                <a:solidFill>
                  <a:srgbClr val="282D37"/>
                </a:solidFill>
              </a:defRPr>
            </a:pPr>
            <a:r>
              <a:t>Tradeoff: Mayor paralelismo puede elevar contención y costo</a:t>
            </a:r>
          </a:p>
          <a:p>
            <a:pPr>
              <a:spcAft>
                <a:spcPts val="200"/>
              </a:spcAft>
              <a:defRPr sz="1050">
                <a:solidFill>
                  <a:srgbClr val="282D37"/>
                </a:solidFill>
              </a:defRPr>
            </a:pPr>
            <a:r>
              <a:t>Riesgo: Duplicados o desorden si no hay idempotencia</a:t>
            </a:r>
          </a:p>
          <a:p>
            <a:pPr>
              <a:spcAft>
                <a:spcPts val="200"/>
              </a:spcAft>
              <a:defRPr sz="1050">
                <a:solidFill>
                  <a:srgbClr val="282D37"/>
                </a:solidFill>
              </a:defRPr>
            </a:pPr>
            <a:r>
              <a:t>Rationale: Matching fue identificado como capacidad que debe escalar sin escalar toda la plataforma.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315B"/>
                </a:solidFill>
              </a:defRPr>
            </a:pPr>
            <a:r>
              <a:t>Escalabilidad — Escenario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82D37"/>
                </a:solidFill>
              </a:defRPr>
            </a:pPr>
            <a:r>
              <a:t>Propagación masiva de eventos de trabajo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36576"/>
          </a:xfrm>
          <a:prstGeom prst="rect">
            <a:avLst/>
          </a:prstGeom>
          <a:solidFill>
            <a:srgbClr val="2F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81328"/>
            <a:ext cx="1874519" cy="502920"/>
          </a:xfrm>
          <a:prstGeom prst="roundRect">
            <a:avLst/>
          </a:prstGeom>
          <a:solidFill>
            <a:srgbClr val="F4F7FA"/>
          </a:solidFill>
          <a:ln>
            <a:solidFill>
              <a:srgbClr val="2F9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14315B"/>
                </a:solidFill>
              </a:defRPr>
            </a:pPr>
            <a:r>
              <a:t>Fuente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06040" y="1499616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82D37"/>
                </a:solidFill>
              </a:defRPr>
            </a:pPr>
            <a:r>
              <a:t>Work Orchestration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048256"/>
            <a:ext cx="1874519" cy="502920"/>
          </a:xfrm>
          <a:prstGeom prst="roundRect">
            <a:avLst/>
          </a:prstGeom>
          <a:solidFill>
            <a:srgbClr val="F4F7FA"/>
          </a:solidFill>
          <a:ln>
            <a:solidFill>
              <a:srgbClr val="2F9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14315B"/>
                </a:solidFill>
              </a:defRPr>
            </a:pPr>
            <a:r>
              <a:t>Estímulo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040" y="2066544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82D37"/>
                </a:solidFill>
              </a:defRPr>
            </a:pPr>
            <a:r>
              <a:t>Publicación de WorkChanged/WorkCompleted durante alta actividad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615184"/>
            <a:ext cx="1874519" cy="502920"/>
          </a:xfrm>
          <a:prstGeom prst="roundRect">
            <a:avLst/>
          </a:prstGeom>
          <a:solidFill>
            <a:srgbClr val="F4F7FA"/>
          </a:solidFill>
          <a:ln>
            <a:solidFill>
              <a:srgbClr val="2F9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14315B"/>
                </a:solidFill>
              </a:defRPr>
            </a:pPr>
            <a:r>
              <a:t>Artefacto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2633472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82D37"/>
                </a:solidFill>
              </a:defRPr>
            </a:pPr>
            <a:r>
              <a:t>Event Backbone + consumidores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182112"/>
            <a:ext cx="1874519" cy="502920"/>
          </a:xfrm>
          <a:prstGeom prst="roundRect">
            <a:avLst/>
          </a:prstGeom>
          <a:solidFill>
            <a:srgbClr val="F4F7FA"/>
          </a:solidFill>
          <a:ln>
            <a:solidFill>
              <a:srgbClr val="2F9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14315B"/>
                </a:solidFill>
              </a:defRPr>
            </a:pPr>
            <a:r>
              <a:t>Ambiente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3200400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82D37"/>
                </a:solidFill>
              </a:defRPr>
            </a:pPr>
            <a:r>
              <a:t>Operación pico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749040"/>
            <a:ext cx="1874519" cy="502920"/>
          </a:xfrm>
          <a:prstGeom prst="roundRect">
            <a:avLst/>
          </a:prstGeom>
          <a:solidFill>
            <a:srgbClr val="F4F7FA"/>
          </a:solidFill>
          <a:ln>
            <a:solidFill>
              <a:srgbClr val="2F9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14315B"/>
                </a:solidFill>
              </a:defRPr>
            </a:pPr>
            <a:r>
              <a:t>Respuesta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3767328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82D37"/>
                </a:solidFill>
              </a:defRPr>
            </a:pPr>
            <a:r>
              <a:t>Consumidores independientes procesan eventos sin bloquear al productor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4315968"/>
            <a:ext cx="1874519" cy="502920"/>
          </a:xfrm>
          <a:prstGeom prst="roundRect">
            <a:avLst/>
          </a:prstGeom>
          <a:solidFill>
            <a:srgbClr val="F4F7FA"/>
          </a:solidFill>
          <a:ln>
            <a:solidFill>
              <a:srgbClr val="2F9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14315B"/>
                </a:solidFill>
              </a:defRPr>
            </a:pPr>
            <a:r>
              <a:t>Medida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4334256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82D37"/>
                </a:solidFill>
              </a:defRPr>
            </a:pPr>
            <a:r>
              <a:t>100.000 eventos; 99% procesados &lt; 120 s; sin pérdida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965192"/>
            <a:ext cx="1097280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F292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  <a:defRPr sz="1050">
                <a:solidFill>
                  <a:srgbClr val="282D37"/>
                </a:solidFill>
              </a:defRPr>
            </a:pPr>
            <a:r>
              <a:t>Decisión: Broker durable + consumidores independientes + idempotencia</a:t>
            </a:r>
          </a:p>
          <a:p>
            <a:pPr>
              <a:spcAft>
                <a:spcPts val="200"/>
              </a:spcAft>
              <a:defRPr sz="1050">
                <a:solidFill>
                  <a:srgbClr val="282D37"/>
                </a:solidFill>
              </a:defRPr>
            </a:pPr>
            <a:r>
              <a:t>Sensibilidad: Particiones, acknowledgements y tamaño del mensaje</a:t>
            </a:r>
          </a:p>
          <a:p>
            <a:pPr>
              <a:spcAft>
                <a:spcPts val="200"/>
              </a:spcAft>
              <a:defRPr sz="1050">
                <a:solidFill>
                  <a:srgbClr val="282D37"/>
                </a:solidFill>
              </a:defRPr>
            </a:pPr>
            <a:r>
              <a:t>Tradeoff: Consistencia eventual a cambio de desacoplamiento</a:t>
            </a:r>
          </a:p>
          <a:p>
            <a:pPr>
              <a:spcAft>
                <a:spcPts val="200"/>
              </a:spcAft>
              <a:defRPr sz="1050">
                <a:solidFill>
                  <a:srgbClr val="282D37"/>
                </a:solidFill>
              </a:defRPr>
            </a:pPr>
            <a:r>
              <a:t>Riesgo: Lag creciente o reprocesamiento de eventos</a:t>
            </a:r>
          </a:p>
          <a:p>
            <a:pPr>
              <a:spcAft>
                <a:spcPts val="200"/>
              </a:spcAft>
              <a:defRPr sz="1050">
                <a:solidFill>
                  <a:srgbClr val="282D37"/>
                </a:solidFill>
              </a:defRPr>
            </a:pPr>
            <a:r>
              <a:t>Rationale: El caso describe flujos llenos de eventos; desacoplar reacciones protege el core.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315B"/>
                </a:solidFill>
              </a:defRPr>
            </a:pPr>
            <a:r>
              <a:t>Modificabilidad / Configurabilidad — Escenario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82D37"/>
                </a:solidFill>
              </a:defRPr>
            </a:pPr>
            <a:r>
              <a:t>Incorporar un nuevo partner B2B2C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36576"/>
          </a:xfrm>
          <a:prstGeom prst="rect">
            <a:avLst/>
          </a:prstGeom>
          <a:solidFill>
            <a:srgbClr val="2F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81328"/>
            <a:ext cx="1874519" cy="502920"/>
          </a:xfrm>
          <a:prstGeom prst="roundRect">
            <a:avLst/>
          </a:prstGeom>
          <a:solidFill>
            <a:srgbClr val="F4F7FA"/>
          </a:solidFill>
          <a:ln>
            <a:solidFill>
              <a:srgbClr val="2F9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14315B"/>
                </a:solidFill>
              </a:defRPr>
            </a:pPr>
            <a:r>
              <a:t>Fuente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06040" y="1499616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82D37"/>
                </a:solidFill>
              </a:defRPr>
            </a:pPr>
            <a:r>
              <a:t>Equipo de integración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048256"/>
            <a:ext cx="1874519" cy="502920"/>
          </a:xfrm>
          <a:prstGeom prst="roundRect">
            <a:avLst/>
          </a:prstGeom>
          <a:solidFill>
            <a:srgbClr val="F4F7FA"/>
          </a:solidFill>
          <a:ln>
            <a:solidFill>
              <a:srgbClr val="2F9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14315B"/>
                </a:solidFill>
              </a:defRPr>
            </a:pPr>
            <a:r>
              <a:t>Estímulo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040" y="2066544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82D37"/>
                </a:solidFill>
              </a:defRPr>
            </a:pPr>
            <a:r>
              <a:t>Nuevo partner con payload y reglas propias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615184"/>
            <a:ext cx="1874519" cy="502920"/>
          </a:xfrm>
          <a:prstGeom prst="roundRect">
            <a:avLst/>
          </a:prstGeom>
          <a:solidFill>
            <a:srgbClr val="F4F7FA"/>
          </a:solidFill>
          <a:ln>
            <a:solidFill>
              <a:srgbClr val="2F9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14315B"/>
                </a:solidFill>
              </a:defRPr>
            </a:pPr>
            <a:r>
              <a:t>Artefacto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2633472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82D37"/>
                </a:solidFill>
              </a:defRPr>
            </a:pPr>
            <a:r>
              <a:t>Partner Integration ACL + PartnerRules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182112"/>
            <a:ext cx="1874519" cy="502920"/>
          </a:xfrm>
          <a:prstGeom prst="roundRect">
            <a:avLst/>
          </a:prstGeom>
          <a:solidFill>
            <a:srgbClr val="F4F7FA"/>
          </a:solidFill>
          <a:ln>
            <a:solidFill>
              <a:srgbClr val="2F9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14315B"/>
                </a:solidFill>
              </a:defRPr>
            </a:pPr>
            <a:r>
              <a:t>Ambiente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3200400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82D37"/>
                </a:solidFill>
              </a:defRPr>
            </a:pPr>
            <a:r>
              <a:t>Operación normal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749040"/>
            <a:ext cx="1874519" cy="502920"/>
          </a:xfrm>
          <a:prstGeom prst="roundRect">
            <a:avLst/>
          </a:prstGeom>
          <a:solidFill>
            <a:srgbClr val="F4F7FA"/>
          </a:solidFill>
          <a:ln>
            <a:solidFill>
              <a:srgbClr val="2F9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14315B"/>
                </a:solidFill>
              </a:defRPr>
            </a:pPr>
            <a:r>
              <a:t>Respuesta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3767328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82D37"/>
                </a:solidFill>
              </a:defRPr>
            </a:pPr>
            <a:r>
              <a:t>Agregar adaptador/reglas sin modificar dominio Work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4315968"/>
            <a:ext cx="1874519" cy="502920"/>
          </a:xfrm>
          <a:prstGeom prst="roundRect">
            <a:avLst/>
          </a:prstGeom>
          <a:solidFill>
            <a:srgbClr val="F4F7FA"/>
          </a:solidFill>
          <a:ln>
            <a:solidFill>
              <a:srgbClr val="2F9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14315B"/>
                </a:solidFill>
              </a:defRPr>
            </a:pPr>
            <a:r>
              <a:t>Medida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4334256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82D37"/>
                </a:solidFill>
              </a:defRPr>
            </a:pPr>
            <a:r>
              <a:t>Cambio localizado ≤ 2 módulos; 0 cambios al agregado Work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965192"/>
            <a:ext cx="1097280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F292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  <a:defRPr sz="1050">
                <a:solidFill>
                  <a:srgbClr val="282D37"/>
                </a:solidFill>
              </a:defRPr>
            </a:pPr>
            <a:r>
              <a:t>Decisión: ACL + bounded context PartnerRules</a:t>
            </a:r>
          </a:p>
          <a:p>
            <a:pPr>
              <a:spcAft>
                <a:spcPts val="200"/>
              </a:spcAft>
              <a:defRPr sz="1050">
                <a:solidFill>
                  <a:srgbClr val="282D37"/>
                </a:solidFill>
              </a:defRPr>
            </a:pPr>
            <a:r>
              <a:t>Sensibilidad: Calidad del límite entre modelo externo y modelo HDA</a:t>
            </a:r>
          </a:p>
          <a:p>
            <a:pPr>
              <a:spcAft>
                <a:spcPts val="200"/>
              </a:spcAft>
              <a:defRPr sz="1050">
                <a:solidFill>
                  <a:srgbClr val="282D37"/>
                </a:solidFill>
              </a:defRPr>
            </a:pPr>
            <a:r>
              <a:t>Tradeoff: Más adaptadores implican mantenimiento adicional</a:t>
            </a:r>
          </a:p>
          <a:p>
            <a:pPr>
              <a:spcAft>
                <a:spcPts val="200"/>
              </a:spcAft>
              <a:defRPr sz="1050">
                <a:solidFill>
                  <a:srgbClr val="282D37"/>
                </a:solidFill>
              </a:defRPr>
            </a:pPr>
            <a:r>
              <a:t>Riesgo: Filtrar reglas del partner al core y crear acoplamiento</a:t>
            </a:r>
          </a:p>
          <a:p>
            <a:pPr>
              <a:spcAft>
                <a:spcPts val="200"/>
              </a:spcAft>
              <a:defRPr sz="1050">
                <a:solidFill>
                  <a:srgbClr val="282D37"/>
                </a:solidFill>
              </a:defRPr>
            </a:pPr>
            <a:r>
              <a:t>Rationale: Cada partner es un universo; el ACL evita contaminar el lenguaje del core.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315B"/>
                </a:solidFill>
              </a:defRPr>
            </a:pPr>
            <a:r>
              <a:t>Modificabilidad / Configurabilidad — Escenario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82D37"/>
                </a:solidFill>
              </a:defRPr>
            </a:pPr>
            <a:r>
              <a:t>Nueva regla regional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36576"/>
          </a:xfrm>
          <a:prstGeom prst="rect">
            <a:avLst/>
          </a:prstGeom>
          <a:solidFill>
            <a:srgbClr val="2F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81328"/>
            <a:ext cx="1874519" cy="502920"/>
          </a:xfrm>
          <a:prstGeom prst="roundRect">
            <a:avLst/>
          </a:prstGeom>
          <a:solidFill>
            <a:srgbClr val="F4F7FA"/>
          </a:solidFill>
          <a:ln>
            <a:solidFill>
              <a:srgbClr val="2F9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14315B"/>
                </a:solidFill>
              </a:defRPr>
            </a:pPr>
            <a:r>
              <a:t>Fuente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06040" y="1499616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82D37"/>
                </a:solidFill>
              </a:defRPr>
            </a:pPr>
            <a:r>
              <a:t>Operaciones regionales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048256"/>
            <a:ext cx="1874519" cy="502920"/>
          </a:xfrm>
          <a:prstGeom prst="roundRect">
            <a:avLst/>
          </a:prstGeom>
          <a:solidFill>
            <a:srgbClr val="F4F7FA"/>
          </a:solidFill>
          <a:ln>
            <a:solidFill>
              <a:srgbClr val="2F9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14315B"/>
                </a:solidFill>
              </a:defRPr>
            </a:pPr>
            <a:r>
              <a:t>Estímulo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040" y="2066544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82D37"/>
                </a:solidFill>
              </a:defRPr>
            </a:pPr>
            <a:r>
              <a:t>Cambio de moneda, zona horaria o regla de país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615184"/>
            <a:ext cx="1874519" cy="502920"/>
          </a:xfrm>
          <a:prstGeom prst="roundRect">
            <a:avLst/>
          </a:prstGeom>
          <a:solidFill>
            <a:srgbClr val="F4F7FA"/>
          </a:solidFill>
          <a:ln>
            <a:solidFill>
              <a:srgbClr val="2F9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14315B"/>
                </a:solidFill>
              </a:defRPr>
            </a:pPr>
            <a:r>
              <a:t>Artefacto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2633472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82D37"/>
                </a:solidFill>
              </a:defRPr>
            </a:pPr>
            <a:r>
              <a:t>RegionalOperations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182112"/>
            <a:ext cx="1874519" cy="502920"/>
          </a:xfrm>
          <a:prstGeom prst="roundRect">
            <a:avLst/>
          </a:prstGeom>
          <a:solidFill>
            <a:srgbClr val="F4F7FA"/>
          </a:solidFill>
          <a:ln>
            <a:solidFill>
              <a:srgbClr val="2F9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14315B"/>
                </a:solidFill>
              </a:defRPr>
            </a:pPr>
            <a:r>
              <a:t>Ambiente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3200400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82D37"/>
                </a:solidFill>
              </a:defRPr>
            </a:pPr>
            <a:r>
              <a:t>Operación normal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749040"/>
            <a:ext cx="1874519" cy="502920"/>
          </a:xfrm>
          <a:prstGeom prst="roundRect">
            <a:avLst/>
          </a:prstGeom>
          <a:solidFill>
            <a:srgbClr val="F4F7FA"/>
          </a:solidFill>
          <a:ln>
            <a:solidFill>
              <a:srgbClr val="2F9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14315B"/>
                </a:solidFill>
              </a:defRPr>
            </a:pPr>
            <a:r>
              <a:t>Respuesta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3767328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82D37"/>
                </a:solidFill>
              </a:defRPr>
            </a:pPr>
            <a:r>
              <a:t>Configurar/publicar la regla sin redeploy de Work Orchestration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4315968"/>
            <a:ext cx="1874519" cy="502920"/>
          </a:xfrm>
          <a:prstGeom prst="roundRect">
            <a:avLst/>
          </a:prstGeom>
          <a:solidFill>
            <a:srgbClr val="F4F7FA"/>
          </a:solidFill>
          <a:ln>
            <a:solidFill>
              <a:srgbClr val="2F9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14315B"/>
                </a:solidFill>
              </a:defRPr>
            </a:pPr>
            <a:r>
              <a:t>Medida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4334256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82D37"/>
                </a:solidFill>
              </a:defRPr>
            </a:pPr>
            <a:r>
              <a:t>0 cambios en Work; configuración efectiva &lt; 30 min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965192"/>
            <a:ext cx="1097280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F292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  <a:defRPr sz="1050">
                <a:solidFill>
                  <a:srgbClr val="282D37"/>
                </a:solidFill>
              </a:defRPr>
            </a:pPr>
            <a:r>
              <a:t>Decisión: Centralizar reglas regionales + contratos publicados</a:t>
            </a:r>
          </a:p>
          <a:p>
            <a:pPr>
              <a:spcAft>
                <a:spcPts val="200"/>
              </a:spcAft>
              <a:defRPr sz="1050">
                <a:solidFill>
                  <a:srgbClr val="282D37"/>
                </a:solidFill>
              </a:defRPr>
            </a:pPr>
            <a:r>
              <a:t>Sensibilidad: Granularidad de configuración y caché</a:t>
            </a:r>
          </a:p>
          <a:p>
            <a:pPr>
              <a:spcAft>
                <a:spcPts val="200"/>
              </a:spcAft>
              <a:defRPr sz="1050">
                <a:solidFill>
                  <a:srgbClr val="282D37"/>
                </a:solidFill>
              </a:defRPr>
            </a:pPr>
            <a:r>
              <a:t>Tradeoff: Centralización facilita cambio pero puede crear dependencia crítica</a:t>
            </a:r>
          </a:p>
          <a:p>
            <a:pPr>
              <a:spcAft>
                <a:spcPts val="200"/>
              </a:spcAft>
              <a:defRPr sz="1050">
                <a:solidFill>
                  <a:srgbClr val="282D37"/>
                </a:solidFill>
              </a:defRPr>
            </a:pPr>
            <a:r>
              <a:t>Riesgo: RegionalOperations se convierte en cuello de botella</a:t>
            </a:r>
          </a:p>
          <a:p>
            <a:pPr>
              <a:spcAft>
                <a:spcPts val="200"/>
              </a:spcAft>
              <a:defRPr sz="1050">
                <a:solidFill>
                  <a:srgbClr val="282D37"/>
                </a:solidFill>
              </a:defRPr>
            </a:pPr>
            <a:r>
              <a:t>Rationale: La expansión a México, Brasil y Argentina exige aislar variaciones por país.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315B"/>
                </a:solidFill>
              </a:defRPr>
            </a:pPr>
            <a:r>
              <a:t>Modificabilidad / Configurabilidad — Escenario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82D37"/>
                </a:solidFill>
              </a:defRPr>
            </a:pPr>
            <a:r>
              <a:t>Cambio de SLA de partner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36576"/>
          </a:xfrm>
          <a:prstGeom prst="rect">
            <a:avLst/>
          </a:prstGeom>
          <a:solidFill>
            <a:srgbClr val="2F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81328"/>
            <a:ext cx="1874519" cy="502920"/>
          </a:xfrm>
          <a:prstGeom prst="roundRect">
            <a:avLst/>
          </a:prstGeom>
          <a:solidFill>
            <a:srgbClr val="F4F7FA"/>
          </a:solidFill>
          <a:ln>
            <a:solidFill>
              <a:srgbClr val="2F9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14315B"/>
                </a:solidFill>
              </a:defRPr>
            </a:pPr>
            <a:r>
              <a:t>Fuente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06040" y="1499616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82D37"/>
                </a:solidFill>
              </a:defRPr>
            </a:pPr>
            <a:r>
              <a:t>Partner B2B2C / negocio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048256"/>
            <a:ext cx="1874519" cy="502920"/>
          </a:xfrm>
          <a:prstGeom prst="roundRect">
            <a:avLst/>
          </a:prstGeom>
          <a:solidFill>
            <a:srgbClr val="F4F7FA"/>
          </a:solidFill>
          <a:ln>
            <a:solidFill>
              <a:srgbClr val="2F9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14315B"/>
                </a:solidFill>
              </a:defRPr>
            </a:pPr>
            <a:r>
              <a:t>Estímulo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040" y="2066544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82D37"/>
                </a:solidFill>
              </a:defRPr>
            </a:pPr>
            <a:r>
              <a:t>Se modifica SLA o paso de aprobación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615184"/>
            <a:ext cx="1874519" cy="502920"/>
          </a:xfrm>
          <a:prstGeom prst="roundRect">
            <a:avLst/>
          </a:prstGeom>
          <a:solidFill>
            <a:srgbClr val="F4F7FA"/>
          </a:solidFill>
          <a:ln>
            <a:solidFill>
              <a:srgbClr val="2F9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14315B"/>
                </a:solidFill>
              </a:defRPr>
            </a:pPr>
            <a:r>
              <a:t>Artefacto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2633472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82D37"/>
                </a:solidFill>
              </a:defRPr>
            </a:pPr>
            <a:r>
              <a:t>PartnerRules + Work Orchestration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182112"/>
            <a:ext cx="1874519" cy="502920"/>
          </a:xfrm>
          <a:prstGeom prst="roundRect">
            <a:avLst/>
          </a:prstGeom>
          <a:solidFill>
            <a:srgbClr val="F4F7FA"/>
          </a:solidFill>
          <a:ln>
            <a:solidFill>
              <a:srgbClr val="2F9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14315B"/>
                </a:solidFill>
              </a:defRPr>
            </a:pPr>
            <a:r>
              <a:t>Ambiente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3200400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82D37"/>
                </a:solidFill>
              </a:defRPr>
            </a:pPr>
            <a:r>
              <a:t>Sistema en producción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749040"/>
            <a:ext cx="1874519" cy="502920"/>
          </a:xfrm>
          <a:prstGeom prst="roundRect">
            <a:avLst/>
          </a:prstGeom>
          <a:solidFill>
            <a:srgbClr val="F4F7FA"/>
          </a:solidFill>
          <a:ln>
            <a:solidFill>
              <a:srgbClr val="2F9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14315B"/>
                </a:solidFill>
              </a:defRPr>
            </a:pPr>
            <a:r>
              <a:t>Respuesta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3767328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82D37"/>
                </a:solidFill>
              </a:defRPr>
            </a:pPr>
            <a:r>
              <a:t>Actualizar política sin alterar flujo genérico del agregado Work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4315968"/>
            <a:ext cx="1874519" cy="502920"/>
          </a:xfrm>
          <a:prstGeom prst="roundRect">
            <a:avLst/>
          </a:prstGeom>
          <a:solidFill>
            <a:srgbClr val="F4F7FA"/>
          </a:solidFill>
          <a:ln>
            <a:solidFill>
              <a:srgbClr val="2F9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14315B"/>
                </a:solidFill>
              </a:defRPr>
            </a:pPr>
            <a:r>
              <a:t>Medida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4334256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82D37"/>
                </a:solidFill>
              </a:defRPr>
            </a:pPr>
            <a:r>
              <a:t>≤ 1 módulo funcional modificado; pruebas focalizadas &lt; 30 min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965192"/>
            <a:ext cx="1097280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F292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  <a:defRPr sz="1050">
                <a:solidFill>
                  <a:srgbClr val="282D37"/>
                </a:solidFill>
              </a:defRPr>
            </a:pPr>
            <a:r>
              <a:t>Decisión: Strategy/Policy en PartnerRules + inversión de dependencias</a:t>
            </a:r>
          </a:p>
          <a:p>
            <a:pPr>
              <a:spcAft>
                <a:spcPts val="200"/>
              </a:spcAft>
              <a:defRPr sz="1050">
                <a:solidFill>
                  <a:srgbClr val="282D37"/>
                </a:solidFill>
              </a:defRPr>
            </a:pPr>
            <a:r>
              <a:t>Sensibilidad: Separación entre política de partner y orquestación</a:t>
            </a:r>
          </a:p>
          <a:p>
            <a:pPr>
              <a:spcAft>
                <a:spcPts val="200"/>
              </a:spcAft>
              <a:defRPr sz="1050">
                <a:solidFill>
                  <a:srgbClr val="282D37"/>
                </a:solidFill>
              </a:defRPr>
            </a:pPr>
            <a:r>
              <a:t>Tradeoff: Más abstracciones frente a menor acoplamiento</a:t>
            </a:r>
          </a:p>
          <a:p>
            <a:pPr>
              <a:spcAft>
                <a:spcPts val="200"/>
              </a:spcAft>
              <a:defRPr sz="1050">
                <a:solidFill>
                  <a:srgbClr val="282D37"/>
                </a:solidFill>
              </a:defRPr>
            </a:pPr>
            <a:r>
              <a:t>Riesgo: WorkOrchestration absorbe reglas y se vuelve monolito distribuido</a:t>
            </a:r>
          </a:p>
          <a:p>
            <a:pPr>
              <a:spcAft>
                <a:spcPts val="200"/>
              </a:spcAft>
              <a:defRPr sz="1050">
                <a:solidFill>
                  <a:srgbClr val="282D37"/>
                </a:solidFill>
              </a:defRPr>
            </a:pPr>
            <a:r>
              <a:t>Rationale: Este riesgo ya fue identificado como punto de sensibilidad en Entrega 2.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315B"/>
                </a:solidFill>
              </a:defRPr>
            </a:pPr>
            <a:r>
              <a:t>Desplegabilidad / Autonomía — Escenario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82D37"/>
                </a:solidFill>
              </a:defRPr>
            </a:pPr>
            <a:r>
              <a:t>Despliegue independiente de Work Orchestration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36576"/>
          </a:xfrm>
          <a:prstGeom prst="rect">
            <a:avLst/>
          </a:prstGeom>
          <a:solidFill>
            <a:srgbClr val="2F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81328"/>
            <a:ext cx="1874519" cy="502920"/>
          </a:xfrm>
          <a:prstGeom prst="roundRect">
            <a:avLst/>
          </a:prstGeom>
          <a:solidFill>
            <a:srgbClr val="F4F7FA"/>
          </a:solidFill>
          <a:ln>
            <a:solidFill>
              <a:srgbClr val="2F9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14315B"/>
                </a:solidFill>
              </a:defRPr>
            </a:pPr>
            <a:r>
              <a:t>Fuente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06040" y="1499616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82D37"/>
                </a:solidFill>
              </a:defRPr>
            </a:pPr>
            <a:r>
              <a:t>Equipo Work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048256"/>
            <a:ext cx="1874519" cy="502920"/>
          </a:xfrm>
          <a:prstGeom prst="roundRect">
            <a:avLst/>
          </a:prstGeom>
          <a:solidFill>
            <a:srgbClr val="F4F7FA"/>
          </a:solidFill>
          <a:ln>
            <a:solidFill>
              <a:srgbClr val="2F9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14315B"/>
                </a:solidFill>
              </a:defRPr>
            </a:pPr>
            <a:r>
              <a:t>Estímulo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040" y="2066544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82D37"/>
                </a:solidFill>
              </a:defRPr>
            </a:pPr>
            <a:r>
              <a:t>Nueva versión de Work Orchestration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615184"/>
            <a:ext cx="1874519" cy="502920"/>
          </a:xfrm>
          <a:prstGeom prst="roundRect">
            <a:avLst/>
          </a:prstGeom>
          <a:solidFill>
            <a:srgbClr val="F4F7FA"/>
          </a:solidFill>
          <a:ln>
            <a:solidFill>
              <a:srgbClr val="2F9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14315B"/>
                </a:solidFill>
              </a:defRPr>
            </a:pPr>
            <a:r>
              <a:t>Artefacto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2633472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82D37"/>
                </a:solidFill>
              </a:defRPr>
            </a:pPr>
            <a:r>
              <a:t>Servicio Work Orchestration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182112"/>
            <a:ext cx="1874519" cy="502920"/>
          </a:xfrm>
          <a:prstGeom prst="roundRect">
            <a:avLst/>
          </a:prstGeom>
          <a:solidFill>
            <a:srgbClr val="F4F7FA"/>
          </a:solidFill>
          <a:ln>
            <a:solidFill>
              <a:srgbClr val="2F9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14315B"/>
                </a:solidFill>
              </a:defRPr>
            </a:pPr>
            <a:r>
              <a:t>Ambiente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3200400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82D37"/>
                </a:solidFill>
              </a:defRPr>
            </a:pPr>
            <a:r>
              <a:t>Producción con tráfico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749040"/>
            <a:ext cx="1874519" cy="502920"/>
          </a:xfrm>
          <a:prstGeom prst="roundRect">
            <a:avLst/>
          </a:prstGeom>
          <a:solidFill>
            <a:srgbClr val="F4F7FA"/>
          </a:solidFill>
          <a:ln>
            <a:solidFill>
              <a:srgbClr val="2F9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14315B"/>
                </a:solidFill>
              </a:defRPr>
            </a:pPr>
            <a:r>
              <a:t>Respuesta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3767328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82D37"/>
                </a:solidFill>
              </a:defRPr>
            </a:pPr>
            <a:r>
              <a:t>Desplegar sin detener Matching, Payments, Wallet o Quality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4315968"/>
            <a:ext cx="1874519" cy="502920"/>
          </a:xfrm>
          <a:prstGeom prst="roundRect">
            <a:avLst/>
          </a:prstGeom>
          <a:solidFill>
            <a:srgbClr val="F4F7FA"/>
          </a:solidFill>
          <a:ln>
            <a:solidFill>
              <a:srgbClr val="2F9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14315B"/>
                </a:solidFill>
              </a:defRPr>
            </a:pPr>
            <a:r>
              <a:t>Medida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4334256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82D37"/>
                </a:solidFill>
              </a:defRPr>
            </a:pPr>
            <a:r>
              <a:t>0 despliegues obligatorios de otros servicios; disponibilidad ≥ 99.9% durante cambio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965192"/>
            <a:ext cx="1097280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F292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  <a:defRPr sz="1050">
                <a:solidFill>
                  <a:srgbClr val="282D37"/>
                </a:solidFill>
              </a:defRPr>
            </a:pPr>
            <a:r>
              <a:t>Decisión: Microservicio por bounded context + rolling deployment</a:t>
            </a:r>
          </a:p>
          <a:p>
            <a:pPr>
              <a:spcAft>
                <a:spcPts val="200"/>
              </a:spcAft>
              <a:defRPr sz="1050">
                <a:solidFill>
                  <a:srgbClr val="282D37"/>
                </a:solidFill>
              </a:defRPr>
            </a:pPr>
            <a:r>
              <a:t>Sensibilidad: Compatibilidad de contratos y estado externo</a:t>
            </a:r>
          </a:p>
          <a:p>
            <a:pPr>
              <a:spcAft>
                <a:spcPts val="200"/>
              </a:spcAft>
              <a:defRPr sz="1050">
                <a:solidFill>
                  <a:srgbClr val="282D37"/>
                </a:solidFill>
              </a:defRPr>
            </a:pPr>
            <a:r>
              <a:t>Tradeoff: Autonomía aumenta costo de observabilidad/operación</a:t>
            </a:r>
          </a:p>
          <a:p>
            <a:pPr>
              <a:spcAft>
                <a:spcPts val="200"/>
              </a:spcAft>
              <a:defRPr sz="1050">
                <a:solidFill>
                  <a:srgbClr val="282D37"/>
                </a:solidFill>
              </a:defRPr>
            </a:pPr>
            <a:r>
              <a:t>Riesgo: Contrato incompatible fuerza despliegues coordinados</a:t>
            </a:r>
          </a:p>
          <a:p>
            <a:pPr>
              <a:spcAft>
                <a:spcPts val="200"/>
              </a:spcAft>
              <a:defRPr sz="1050">
                <a:solidFill>
                  <a:srgbClr val="282D37"/>
                </a:solidFill>
              </a:defRPr>
            </a:pPr>
            <a:r>
              <a:t>Rationale: La autonomía elimina los bloqueos del monolito AS-IS.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315B"/>
                </a:solidFill>
              </a:defRPr>
            </a:pPr>
            <a:r>
              <a:t>Desplegabilidad / Autonomía — Escenario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82D37"/>
                </a:solidFill>
              </a:defRPr>
            </a:pPr>
            <a:r>
              <a:t>Compatibilidad de evento versionado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36576"/>
          </a:xfrm>
          <a:prstGeom prst="rect">
            <a:avLst/>
          </a:prstGeom>
          <a:solidFill>
            <a:srgbClr val="2F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81328"/>
            <a:ext cx="1874519" cy="502920"/>
          </a:xfrm>
          <a:prstGeom prst="roundRect">
            <a:avLst/>
          </a:prstGeom>
          <a:solidFill>
            <a:srgbClr val="F4F7FA"/>
          </a:solidFill>
          <a:ln>
            <a:solidFill>
              <a:srgbClr val="2F9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14315B"/>
                </a:solidFill>
              </a:defRPr>
            </a:pPr>
            <a:r>
              <a:t>Fuente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06040" y="1499616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82D37"/>
                </a:solidFill>
              </a:defRPr>
            </a:pPr>
            <a:r>
              <a:t>Equipo Work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048256"/>
            <a:ext cx="1874519" cy="502920"/>
          </a:xfrm>
          <a:prstGeom prst="roundRect">
            <a:avLst/>
          </a:prstGeom>
          <a:solidFill>
            <a:srgbClr val="F4F7FA"/>
          </a:solidFill>
          <a:ln>
            <a:solidFill>
              <a:srgbClr val="2F9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14315B"/>
                </a:solidFill>
              </a:defRPr>
            </a:pPr>
            <a:r>
              <a:t>Estímulo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040" y="2066544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82D37"/>
                </a:solidFill>
              </a:defRPr>
            </a:pPr>
            <a:r>
              <a:t>Publica una nueva versión de WorkCreated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615184"/>
            <a:ext cx="1874519" cy="502920"/>
          </a:xfrm>
          <a:prstGeom prst="roundRect">
            <a:avLst/>
          </a:prstGeom>
          <a:solidFill>
            <a:srgbClr val="F4F7FA"/>
          </a:solidFill>
          <a:ln>
            <a:solidFill>
              <a:srgbClr val="2F9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14315B"/>
                </a:solidFill>
              </a:defRPr>
            </a:pPr>
            <a:r>
              <a:t>Artefacto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2633472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82D37"/>
                </a:solidFill>
              </a:defRPr>
            </a:pPr>
            <a:r>
              <a:t>Published Language + consumidores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182112"/>
            <a:ext cx="1874519" cy="502920"/>
          </a:xfrm>
          <a:prstGeom prst="roundRect">
            <a:avLst/>
          </a:prstGeom>
          <a:solidFill>
            <a:srgbClr val="F4F7FA"/>
          </a:solidFill>
          <a:ln>
            <a:solidFill>
              <a:srgbClr val="2F9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14315B"/>
                </a:solidFill>
              </a:defRPr>
            </a:pPr>
            <a:r>
              <a:t>Ambiente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3200400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82D37"/>
                </a:solidFill>
              </a:defRPr>
            </a:pPr>
            <a:r>
              <a:t>Despliegue gradual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749040"/>
            <a:ext cx="1874519" cy="502920"/>
          </a:xfrm>
          <a:prstGeom prst="roundRect">
            <a:avLst/>
          </a:prstGeom>
          <a:solidFill>
            <a:srgbClr val="F4F7FA"/>
          </a:solidFill>
          <a:ln>
            <a:solidFill>
              <a:srgbClr val="2F9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14315B"/>
                </a:solidFill>
              </a:defRPr>
            </a:pPr>
            <a:r>
              <a:t>Respuesta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3767328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82D37"/>
                </a:solidFill>
              </a:defRPr>
            </a:pPr>
            <a:r>
              <a:t>Consumidores v1 continúan operando mientras entra v2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4315968"/>
            <a:ext cx="1874519" cy="502920"/>
          </a:xfrm>
          <a:prstGeom prst="roundRect">
            <a:avLst/>
          </a:prstGeom>
          <a:solidFill>
            <a:srgbClr val="F4F7FA"/>
          </a:solidFill>
          <a:ln>
            <a:solidFill>
              <a:srgbClr val="2F9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14315B"/>
                </a:solidFill>
              </a:defRPr>
            </a:pPr>
            <a:r>
              <a:t>Medida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4334256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82D37"/>
                </a:solidFill>
              </a:defRPr>
            </a:pPr>
            <a:r>
              <a:t>100% consumidores v1 procesan evento compatible; 0 errores de deserialización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965192"/>
            <a:ext cx="1097280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F292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  <a:defRPr sz="1050">
                <a:solidFill>
                  <a:srgbClr val="282D37"/>
                </a:solidFill>
              </a:defRPr>
            </a:pPr>
            <a:r>
              <a:t>Decisión: Versionamiento backward-compatible + schema evolution</a:t>
            </a:r>
          </a:p>
          <a:p>
            <a:pPr>
              <a:spcAft>
                <a:spcPts val="200"/>
              </a:spcAft>
              <a:defRPr sz="1050">
                <a:solidFill>
                  <a:srgbClr val="282D37"/>
                </a:solidFill>
              </a:defRPr>
            </a:pPr>
            <a:r>
              <a:t>Sensibilidad: Campos obligatorios y semántica del contrato</a:t>
            </a:r>
          </a:p>
          <a:p>
            <a:pPr>
              <a:spcAft>
                <a:spcPts val="200"/>
              </a:spcAft>
              <a:defRPr sz="1050">
                <a:solidFill>
                  <a:srgbClr val="282D37"/>
                </a:solidFill>
              </a:defRPr>
            </a:pPr>
            <a:r>
              <a:t>Tradeoff: Mantener compatibilidad agrega disciplina y deuda de versiones</a:t>
            </a:r>
          </a:p>
          <a:p>
            <a:pPr>
              <a:spcAft>
                <a:spcPts val="200"/>
              </a:spcAft>
              <a:defRPr sz="1050">
                <a:solidFill>
                  <a:srgbClr val="282D37"/>
                </a:solidFill>
              </a:defRPr>
            </a:pPr>
            <a:r>
              <a:t>Riesgo: Breaking change detiene consumidores independientes</a:t>
            </a:r>
          </a:p>
          <a:p>
            <a:pPr>
              <a:spcAft>
                <a:spcPts val="200"/>
              </a:spcAft>
              <a:defRPr sz="1050">
                <a:solidFill>
                  <a:srgbClr val="282D37"/>
                </a:solidFill>
              </a:defRPr>
            </a:pPr>
            <a:r>
              <a:t>Rationale: Los contratos de eventos fueron identificados como sensibilidad explícita.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315B"/>
                </a:solidFill>
              </a:defRPr>
            </a:pPr>
            <a:r>
              <a:t>Desplegabilidad / Autonomía — Escenario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82D37"/>
                </a:solidFill>
              </a:defRPr>
            </a:pPr>
            <a:r>
              <a:t>Rollback aislado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36576"/>
          </a:xfrm>
          <a:prstGeom prst="rect">
            <a:avLst/>
          </a:prstGeom>
          <a:solidFill>
            <a:srgbClr val="2F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81328"/>
            <a:ext cx="1874519" cy="502920"/>
          </a:xfrm>
          <a:prstGeom prst="roundRect">
            <a:avLst/>
          </a:prstGeom>
          <a:solidFill>
            <a:srgbClr val="F4F7FA"/>
          </a:solidFill>
          <a:ln>
            <a:solidFill>
              <a:srgbClr val="2F9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14315B"/>
                </a:solidFill>
              </a:defRPr>
            </a:pPr>
            <a:r>
              <a:t>Fuente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06040" y="1499616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82D37"/>
                </a:solidFill>
              </a:defRPr>
            </a:pPr>
            <a:r>
              <a:t>Pipeline de despliegue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048256"/>
            <a:ext cx="1874519" cy="502920"/>
          </a:xfrm>
          <a:prstGeom prst="roundRect">
            <a:avLst/>
          </a:prstGeom>
          <a:solidFill>
            <a:srgbClr val="F4F7FA"/>
          </a:solidFill>
          <a:ln>
            <a:solidFill>
              <a:srgbClr val="2F9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14315B"/>
                </a:solidFill>
              </a:defRPr>
            </a:pPr>
            <a:r>
              <a:t>Estímulo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040" y="2066544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82D37"/>
                </a:solidFill>
              </a:defRPr>
            </a:pPr>
            <a:r>
              <a:t>Nueva versión presenta error y se revierte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615184"/>
            <a:ext cx="1874519" cy="502920"/>
          </a:xfrm>
          <a:prstGeom prst="roundRect">
            <a:avLst/>
          </a:prstGeom>
          <a:solidFill>
            <a:srgbClr val="F4F7FA"/>
          </a:solidFill>
          <a:ln>
            <a:solidFill>
              <a:srgbClr val="2F9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14315B"/>
                </a:solidFill>
              </a:defRPr>
            </a:pPr>
            <a:r>
              <a:t>Artefacto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2633472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82D37"/>
                </a:solidFill>
              </a:defRPr>
            </a:pPr>
            <a:r>
              <a:t>Work Orchestration + broker + DB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182112"/>
            <a:ext cx="1874519" cy="502920"/>
          </a:xfrm>
          <a:prstGeom prst="roundRect">
            <a:avLst/>
          </a:prstGeom>
          <a:solidFill>
            <a:srgbClr val="F4F7FA"/>
          </a:solidFill>
          <a:ln>
            <a:solidFill>
              <a:srgbClr val="2F9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14315B"/>
                </a:solidFill>
              </a:defRPr>
            </a:pPr>
            <a:r>
              <a:t>Ambiente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3200400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82D37"/>
                </a:solidFill>
              </a:defRPr>
            </a:pPr>
            <a:r>
              <a:t>Producción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749040"/>
            <a:ext cx="1874519" cy="502920"/>
          </a:xfrm>
          <a:prstGeom prst="roundRect">
            <a:avLst/>
          </a:prstGeom>
          <a:solidFill>
            <a:srgbClr val="F4F7FA"/>
          </a:solidFill>
          <a:ln>
            <a:solidFill>
              <a:srgbClr val="2F9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14315B"/>
                </a:solidFill>
              </a:defRPr>
            </a:pPr>
            <a:r>
              <a:t>Respuesta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3767328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82D37"/>
                </a:solidFill>
              </a:defRPr>
            </a:pPr>
            <a:r>
              <a:t>Rollback del servicio sin rollback de consumidores ni pérdida de eventos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4315968"/>
            <a:ext cx="1874519" cy="502920"/>
          </a:xfrm>
          <a:prstGeom prst="roundRect">
            <a:avLst/>
          </a:prstGeom>
          <a:solidFill>
            <a:srgbClr val="F4F7FA"/>
          </a:solidFill>
          <a:ln>
            <a:solidFill>
              <a:srgbClr val="2F9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14315B"/>
                </a:solidFill>
              </a:defRPr>
            </a:pPr>
            <a:r>
              <a:t>Medida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4334256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82D37"/>
                </a:solidFill>
              </a:defRPr>
            </a:pPr>
            <a:r>
              <a:t>Recuperación &lt; 10 min; 0 eventos perdidos; backlog drenado &lt; 15 min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965192"/>
            <a:ext cx="1097280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F292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  <a:defRPr sz="1050">
                <a:solidFill>
                  <a:srgbClr val="282D37"/>
                </a:solidFill>
              </a:defRPr>
            </a:pPr>
            <a:r>
              <a:t>Decisión: Rollback + mensajes durables + compatibilidad DB</a:t>
            </a:r>
          </a:p>
          <a:p>
            <a:pPr>
              <a:spcAft>
                <a:spcPts val="200"/>
              </a:spcAft>
              <a:defRPr sz="1050">
                <a:solidFill>
                  <a:srgbClr val="282D37"/>
                </a:solidFill>
              </a:defRPr>
            </a:pPr>
            <a:r>
              <a:t>Sensibilidad: Migraciones de esquema y retención del broker</a:t>
            </a:r>
          </a:p>
          <a:p>
            <a:pPr>
              <a:spcAft>
                <a:spcPts val="200"/>
              </a:spcAft>
              <a:defRPr sz="1050">
                <a:solidFill>
                  <a:srgbClr val="282D37"/>
                </a:solidFill>
              </a:defRPr>
            </a:pPr>
            <a:r>
              <a:t>Tradeoff: Compatibilidad de DB limita algunos cambios agresivos</a:t>
            </a:r>
          </a:p>
          <a:p>
            <a:pPr>
              <a:spcAft>
                <a:spcPts val="200"/>
              </a:spcAft>
              <a:defRPr sz="1050">
                <a:solidFill>
                  <a:srgbClr val="282D37"/>
                </a:solidFill>
              </a:defRPr>
            </a:pPr>
            <a:r>
              <a:t>Riesgo: Migración irreversible impide rollback seguro</a:t>
            </a:r>
          </a:p>
          <a:p>
            <a:pPr>
              <a:spcAft>
                <a:spcPts val="200"/>
              </a:spcAft>
              <a:defRPr sz="1050">
                <a:solidFill>
                  <a:srgbClr val="282D37"/>
                </a:solidFill>
              </a:defRPr>
            </a:pPr>
            <a:r>
              <a:t>Rationale: La combinación de persistencia externa y eventos durables permite recuperar el servicio aisladamente.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315B"/>
                </a:solidFill>
              </a:defRPr>
            </a:pPr>
            <a:r>
              <a:t>POC seleccionada: Work Orchestration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1064240" cy="36576"/>
          </a:xfrm>
          <a:prstGeom prst="rect">
            <a:avLst/>
          </a:prstGeom>
          <a:solidFill>
            <a:srgbClr val="2F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82D37"/>
                </a:solidFill>
              </a:defRPr>
            </a:pPr>
            <a:r>
              <a:t>Aggregate Root: Work. Value Object: Location. Evento de dominio: WorkCreated.</a:t>
            </a:r>
          </a:p>
          <a:p>
            <a:pPr>
              <a:spcAft>
                <a:spcPts val="800"/>
              </a:spcAft>
              <a:defRPr sz="1700">
                <a:solidFill>
                  <a:srgbClr val="282D37"/>
                </a:solidFill>
              </a:defRPr>
            </a:pPr>
            <a:r>
              <a:t>Módulo 1 — Work: recibe CreateWorkCommand, persiste el agregado y publica WorkCreated.</a:t>
            </a:r>
          </a:p>
          <a:p>
            <a:pPr>
              <a:spcAft>
                <a:spcPts val="800"/>
              </a:spcAft>
              <a:defRPr sz="1700">
                <a:solidFill>
                  <a:srgbClr val="282D37"/>
                </a:solidFill>
              </a:defRPr>
            </a:pPr>
            <a:r>
              <a:t>Módulo 2 — Assignment: consume WorkCreated mediante RabbitMQ; no existe llamada directa entre módulos.</a:t>
            </a:r>
          </a:p>
          <a:p>
            <a:pPr>
              <a:spcAft>
                <a:spcPts val="800"/>
              </a:spcAft>
              <a:defRPr sz="1700">
                <a:solidFill>
                  <a:srgbClr val="282D37"/>
                </a:solidFill>
              </a:defRPr>
            </a:pPr>
            <a:r>
              <a:t>CQS: CreateWorkCommand para escritura y GetWorkQuery para lectura.</a:t>
            </a:r>
          </a:p>
          <a:p>
            <a:pPr>
              <a:spcAft>
                <a:spcPts val="800"/>
              </a:spcAft>
              <a:defRPr sz="1700">
                <a:solidFill>
                  <a:srgbClr val="282D37"/>
                </a:solidFill>
              </a:defRPr>
            </a:pPr>
            <a:r>
              <a:t>Puerto WorkRepository implementado por adaptador SQLAlchemy/PostgreSQL; puerto EventPublisher implementado por RabbitMQ.</a:t>
            </a:r>
          </a:p>
          <a:p>
            <a:pPr>
              <a:spcAft>
                <a:spcPts val="800"/>
              </a:spcAft>
              <a:defRPr sz="1700">
                <a:solidFill>
                  <a:srgbClr val="282D37"/>
                </a:solidFill>
              </a:defRPr>
            </a:pPr>
            <a:r>
              <a:t>FastAPI es adaptador de entrada: el dominio no depende del framework ni de infraestructura.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315B"/>
                </a:solidFill>
              </a:defRPr>
            </a:pPr>
            <a:r>
              <a:t>Arquitectura hexagonal y flujo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1064240" cy="36576"/>
          </a:xfrm>
          <a:prstGeom prst="rect">
            <a:avLst/>
          </a:prstGeom>
          <a:solidFill>
            <a:srgbClr val="2F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1828800" cy="822960"/>
          </a:xfrm>
          <a:prstGeom prst="roundRect">
            <a:avLst/>
          </a:prstGeom>
          <a:solidFill>
            <a:srgbClr val="F4F7FA"/>
          </a:solidFill>
          <a:ln>
            <a:solidFill>
              <a:srgbClr val="2F9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315B"/>
                </a:solidFill>
              </a:defRPr>
            </a:pPr>
            <a:r>
              <a:t>HTTP / FastAPI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34640" y="1920240"/>
            <a:ext cx="1828800" cy="822960"/>
          </a:xfrm>
          <a:prstGeom prst="roundRect">
            <a:avLst/>
          </a:prstGeom>
          <a:solidFill>
            <a:srgbClr val="F4F7FA"/>
          </a:solidFill>
          <a:ln>
            <a:solidFill>
              <a:srgbClr val="2F9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315B"/>
                </a:solidFill>
              </a:defRPr>
            </a:pPr>
            <a:r>
              <a:t>Application</a:t>
            </a:r>
            <a:br/>
            <a:r>
              <a:t>CQS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1920240"/>
            <a:ext cx="1828800" cy="822960"/>
          </a:xfrm>
          <a:prstGeom prst="roundRect">
            <a:avLst/>
          </a:prstGeom>
          <a:solidFill>
            <a:srgbClr val="F4F7FA"/>
          </a:solidFill>
          <a:ln>
            <a:solidFill>
              <a:srgbClr val="2F9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315B"/>
                </a:solidFill>
              </a:defRPr>
            </a:pPr>
            <a:r>
              <a:t>Domain</a:t>
            </a:r>
            <a:br/>
            <a:r>
              <a:t>Work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371600"/>
            <a:ext cx="1645920" cy="822960"/>
          </a:xfrm>
          <a:prstGeom prst="roundRect">
            <a:avLst/>
          </a:prstGeom>
          <a:solidFill>
            <a:srgbClr val="F4F7FA"/>
          </a:solidFill>
          <a:ln>
            <a:solidFill>
              <a:srgbClr val="2F9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315B"/>
                </a:solidFill>
              </a:defRPr>
            </a:pPr>
            <a:r>
              <a:t>PostgreSQL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2560320"/>
            <a:ext cx="1645920" cy="822960"/>
          </a:xfrm>
          <a:prstGeom prst="roundRect">
            <a:avLst/>
          </a:prstGeom>
          <a:solidFill>
            <a:srgbClr val="F4F7FA"/>
          </a:solidFill>
          <a:ln>
            <a:solidFill>
              <a:srgbClr val="2F9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315B"/>
                </a:solidFill>
              </a:defRPr>
            </a:pPr>
            <a:r>
              <a:t>RabbitMQ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0" y="2560320"/>
            <a:ext cx="1828800" cy="822960"/>
          </a:xfrm>
          <a:prstGeom prst="roundRect">
            <a:avLst/>
          </a:prstGeom>
          <a:solidFill>
            <a:srgbClr val="F4F7FA"/>
          </a:solidFill>
          <a:ln>
            <a:solidFill>
              <a:srgbClr val="2F9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315B"/>
                </a:solidFill>
              </a:defRPr>
            </a:pPr>
            <a:r>
              <a:t>Assignment</a:t>
            </a:r>
            <a:br/>
            <a:r>
              <a:t>Module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148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82D37"/>
                </a:solidFill>
              </a:defRPr>
            </a:pPr>
            <a:r>
              <a:t>Dependencias apuntan hacia el dominio. La comunicación Work → Assignment ocurre por WorkCreated; PostgreSQL y RabbitMQ son adaptadores reemplazables.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315B"/>
                </a:solidFill>
              </a:defRPr>
            </a:pPr>
            <a:r>
              <a:t>Plan de experimentación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1064240" cy="36576"/>
          </a:xfrm>
          <a:prstGeom prst="rect">
            <a:avLst/>
          </a:prstGeom>
          <a:solidFill>
            <a:srgbClr val="2F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82D37"/>
                </a:solidFill>
              </a:defRPr>
            </a:pPr>
            <a:r>
              <a:t>Escalabilidad: k6 genera carga sobre POST /works; se observan throughput, p95, tasa de error y backlog del broker.</a:t>
            </a:r>
          </a:p>
          <a:p>
            <a:pPr>
              <a:spcAft>
                <a:spcPts val="800"/>
              </a:spcAft>
              <a:defRPr sz="1700">
                <a:solidFill>
                  <a:srgbClr val="282D37"/>
                </a:solidFill>
              </a:defRPr>
            </a:pPr>
            <a:r>
              <a:t>Modificabilidad: ejercicios de cambio controlado (nuevo partner, nueva regla regional, nuevo SLA) y conteo de módulos/artefactos impactados.</a:t>
            </a:r>
          </a:p>
          <a:p>
            <a:pPr>
              <a:spcAft>
                <a:spcPts val="800"/>
              </a:spcAft>
              <a:defRPr sz="1700">
                <a:solidFill>
                  <a:srgbClr val="282D37"/>
                </a:solidFill>
              </a:defRPr>
            </a:pPr>
            <a:r>
              <a:t>Desplegabilidad: despliegue/rollback de Work Orchestration y pruebas de compatibilidad de eventos con consumidores de versión anterior.</a:t>
            </a:r>
          </a:p>
          <a:p>
            <a:pPr>
              <a:spcAft>
                <a:spcPts val="800"/>
              </a:spcAft>
              <a:defRPr sz="1700">
                <a:solidFill>
                  <a:srgbClr val="282D37"/>
                </a:solidFill>
              </a:defRPr>
            </a:pPr>
            <a:r>
              <a:t>Los umbrales propuestos son hipótesis de arquitectura que deben validarse con tutor/stakeholders; no se presentan como cifras literales del caso.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315B"/>
                </a:solidFill>
              </a:defRPr>
            </a:pPr>
            <a:r>
              <a:t>Checklist de cumplimiento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1064240" cy="36576"/>
          </a:xfrm>
          <a:prstGeom prst="rect">
            <a:avLst/>
          </a:prstGeom>
          <a:solidFill>
            <a:srgbClr val="2F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82D37"/>
                </a:solidFill>
              </a:defRPr>
            </a:pPr>
            <a:r>
              <a:t>✓ 9 escenarios: 3 por cada atributo de calidad.</a:t>
            </a:r>
          </a:p>
          <a:p>
            <a:pPr>
              <a:spcAft>
                <a:spcPts val="800"/>
              </a:spcAft>
              <a:defRPr sz="1600">
                <a:solidFill>
                  <a:srgbClr val="282D37"/>
                </a:solidFill>
              </a:defRPr>
            </a:pPr>
            <a:r>
              <a:t>✓ Fuente, estímulo, artefacto, ambiente, respuesta y medida.</a:t>
            </a:r>
          </a:p>
          <a:p>
            <a:pPr>
              <a:spcAft>
                <a:spcPts val="800"/>
              </a:spcAft>
              <a:defRPr sz="1600">
                <a:solidFill>
                  <a:srgbClr val="282D37"/>
                </a:solidFill>
              </a:defRPr>
            </a:pPr>
            <a:r>
              <a:t>✓ Decisión arquitectural, punto de sensibilidad, tradeoff, riesgo y rationale.</a:t>
            </a:r>
          </a:p>
          <a:p>
            <a:pPr>
              <a:spcAft>
                <a:spcPts val="800"/>
              </a:spcAft>
              <a:defRPr sz="1600">
                <a:solidFill>
                  <a:srgbClr val="282D37"/>
                </a:solidFill>
              </a:defRPr>
            </a:pPr>
            <a:r>
              <a:t>✓ Servicio con DDD: agregado, entidad/VO, evento, repositorio/puerto.</a:t>
            </a:r>
          </a:p>
          <a:p>
            <a:pPr>
              <a:spcAft>
                <a:spcPts val="800"/>
              </a:spcAft>
              <a:defRPr sz="1600">
                <a:solidFill>
                  <a:srgbClr val="282D37"/>
                </a:solidFill>
              </a:defRPr>
            </a:pPr>
            <a:r>
              <a:t>✓ Arquitectura hexagonal: puertos y adaptadores.</a:t>
            </a:r>
          </a:p>
          <a:p>
            <a:pPr>
              <a:spcAft>
                <a:spcPts val="800"/>
              </a:spcAft>
              <a:defRPr sz="1600">
                <a:solidFill>
                  <a:srgbClr val="282D37"/>
                </a:solidFill>
              </a:defRPr>
            </a:pPr>
            <a:r>
              <a:t>✓ Persistencia real: PostgreSQL.</a:t>
            </a:r>
          </a:p>
          <a:p>
            <a:pPr>
              <a:spcAft>
                <a:spcPts val="800"/>
              </a:spcAft>
              <a:defRPr sz="1600">
                <a:solidFill>
                  <a:srgbClr val="282D37"/>
                </a:solidFill>
              </a:defRPr>
            </a:pPr>
            <a:r>
              <a:t>✓ Dos módulos comunicados mediante evento de dominio.</a:t>
            </a:r>
          </a:p>
          <a:p>
            <a:pPr>
              <a:spcAft>
                <a:spcPts val="800"/>
              </a:spcAft>
              <a:defRPr sz="1600">
                <a:solidFill>
                  <a:srgbClr val="282D37"/>
                </a:solidFill>
              </a:defRPr>
            </a:pPr>
            <a:r>
              <a:t>✓ CQS: comando + consulta + evento relacionado.</a:t>
            </a:r>
          </a:p>
          <a:p>
            <a:pPr>
              <a:spcAft>
                <a:spcPts val="800"/>
              </a:spcAft>
              <a:defRPr sz="1600">
                <a:solidFill>
                  <a:srgbClr val="282D37"/>
                </a:solidFill>
              </a:defRPr>
            </a:pPr>
            <a:r>
              <a:t>✓ README, Docker Compose y script de carga.</a:t>
            </a:r>
          </a:p>
          <a:p>
            <a:pPr>
              <a:spcAft>
                <a:spcPts val="800"/>
              </a:spcAft>
              <a:defRPr sz="1600">
                <a:solidFill>
                  <a:srgbClr val="282D37"/>
                </a:solidFill>
              </a:defRPr>
            </a:pPr>
            <a:r>
              <a:t>Pendiente externo: publicar el repositorio y sustituir REPO_PUBLICO_PENDIENTE. Video omitido por solicitud.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